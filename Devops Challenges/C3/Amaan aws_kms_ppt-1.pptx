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9987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201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40168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17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2136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2160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3316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507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88301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3469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711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198569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0029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81139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4221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12310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7518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1332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</p:sldLayoutIdLst>
  <p:hf sldNum="0" hdr="0" ftr="0" dt="0"/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Key Management Service (KMS)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Data Encryption &amp; Keys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Why Encryption?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If a server is hacked, unencrypted data can be stolen.</a:t>
            </a:r>
          </a:p>
          <a:p>
            <a:endParaRPr lang="en-US" altLang="en-US" sz="2800"/>
          </a:p>
          <a:p>
            <a:r>
              <a:rPr lang="en-US" altLang="en-US" sz="2800"/>
              <a:t>Regulations like GDPR (General Data Protection Regulation) mandate encryption at rest and transit.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Encryption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33145"/>
            <a:ext cx="8229600" cy="1854835"/>
          </a:xfrm>
        </p:spPr>
        <p:txBody>
          <a:bodyPr/>
          <a:lstStyle/>
          <a:p>
            <a:r>
              <a:rPr lang="en-US" altLang="en-US" sz="2000" b="1"/>
              <a:t>In Transit → Data encrypted via SSL/HTTPS, safe during transmission.</a:t>
            </a:r>
          </a:p>
          <a:p>
            <a:endParaRPr lang="en-US" altLang="en-US" sz="2000" b="1"/>
          </a:p>
          <a:p>
            <a:r>
              <a:rPr lang="en-US" altLang="en-US" sz="2000" b="1"/>
              <a:t>At Rest → Data encrypted before storing in DBs/disks.</a:t>
            </a:r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82600" y="3069590"/>
            <a:ext cx="8229600" cy="334264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1. </a:t>
            </a:r>
            <a:r>
              <a:rPr lang="en-US" altLang="en-US" sz="2000" b="1"/>
              <a:t>Client-Side Encryption</a:t>
            </a:r>
            <a:r>
              <a:rPr lang="en-US" altLang="en-US" sz="2000"/>
              <a:t> → Data encrypted before reaching AWS.</a:t>
            </a:r>
          </a:p>
          <a:p>
            <a:pPr marL="457200" lvl="1" indent="0">
              <a:buNone/>
            </a:pPr>
            <a:r>
              <a:rPr lang="en-US" altLang="en-US" sz="2000"/>
              <a:t>* Tools: AWS Encryption SDK, S3/DynamoDB Clients.</a:t>
            </a:r>
          </a:p>
          <a:p>
            <a:pPr marL="457200" lvl="1" indent="0">
              <a:buNone/>
            </a:pPr>
            <a:r>
              <a:rPr lang="en-US" altLang="en-US" sz="2000"/>
              <a:t>* Keys managed by you or AWS KMS.</a:t>
            </a:r>
          </a:p>
          <a:p>
            <a:pPr lvl="1"/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2. </a:t>
            </a:r>
            <a:r>
              <a:rPr lang="en-US" altLang="en-US" sz="2000" b="1"/>
              <a:t>Server-Side Encryption</a:t>
            </a:r>
            <a:r>
              <a:rPr lang="en-US" altLang="en-US" sz="2000"/>
              <a:t> → AWS encrypts automatically when data is stored.</a:t>
            </a:r>
          </a:p>
          <a:p>
            <a:pPr marL="0" indent="457200">
              <a:buNone/>
            </a:pPr>
            <a:r>
              <a:rPr lang="en-US" altLang="en-US" sz="2000"/>
              <a:t>* Supported by: S3, EBS, RDS, DynamoDB, Kinesis.</a:t>
            </a: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584200" y="2657475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altLang="en-US"/>
              <a:t>Methods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37540"/>
            <a:ext cx="8229600" cy="58261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AWS KMS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875" y="1603375"/>
            <a:ext cx="8229600" cy="4953000"/>
          </a:xfrm>
        </p:spPr>
        <p:txBody>
          <a:bodyPr/>
          <a:lstStyle/>
          <a:p>
            <a:r>
              <a:rPr lang="en-US" altLang="en-US"/>
              <a:t>Manages Customer Master Keys (CMKs) using Hardware Security Modules (HSMs).</a:t>
            </a:r>
          </a:p>
          <a:p>
            <a:endParaRPr lang="en-US" altLang="en-US"/>
          </a:p>
          <a:p>
            <a:r>
              <a:rPr lang="en-US" altLang="en-US"/>
              <a:t>Integrated with many AWS services.</a:t>
            </a:r>
          </a:p>
          <a:p>
            <a:endParaRPr lang="en-US" altLang="en-US"/>
          </a:p>
          <a:p>
            <a:r>
              <a:rPr lang="en-US" altLang="en-US"/>
              <a:t>Logs usage via CloudTrail for compliance.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9440"/>
            <a:ext cx="8229600" cy="58261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CMKs vs Data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73580"/>
            <a:ext cx="8229600" cy="4953000"/>
          </a:xfrm>
        </p:spPr>
        <p:txBody>
          <a:bodyPr/>
          <a:lstStyle/>
          <a:p>
            <a:r>
              <a:rPr lang="en-US" altLang="en-US" sz="2000"/>
              <a:t>CMKs → Created &amp; managed by AWS KMS, but can encrypt only small data (&lt;4KB).</a:t>
            </a:r>
          </a:p>
          <a:p>
            <a:endParaRPr lang="en-US" altLang="en-US" sz="2000"/>
          </a:p>
          <a:p>
            <a:r>
              <a:rPr lang="en-US" altLang="en-US" sz="2000"/>
              <a:t>Data Keys → Generated from CMKs, used for large data.</a:t>
            </a:r>
          </a:p>
          <a:p>
            <a:pPr marL="0" indent="457200">
              <a:buNone/>
            </a:pPr>
            <a:r>
              <a:rPr lang="en-US" altLang="en-US" sz="2000"/>
              <a:t>1. Plaintext Data Key → Used to encrypt data (must be discarded 	after use).</a:t>
            </a:r>
          </a:p>
          <a:p>
            <a:pPr marL="0" indent="457200">
              <a:buNone/>
            </a:pPr>
            <a:r>
              <a:rPr lang="en-US" altLang="en-US" sz="2000"/>
              <a:t>2. Encrypted Data Key → Stored safely with ciphertext.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3430"/>
            <a:ext cx="8229600" cy="58261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Envelope Encryption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905000"/>
            <a:ext cx="8229600" cy="4953000"/>
          </a:xfrm>
        </p:spPr>
        <p:txBody>
          <a:bodyPr/>
          <a:lstStyle/>
          <a:p>
            <a:r>
              <a:rPr lang="en-US" altLang="en-US"/>
              <a:t>A Data Key is encrypted by a CMK.</a:t>
            </a:r>
          </a:p>
          <a:p>
            <a:endParaRPr lang="en-US" altLang="en-US"/>
          </a:p>
          <a:p>
            <a:r>
              <a:rPr lang="en-US" altLang="en-US"/>
              <a:t>CMKs stored securely inside HSMs (FIPS 140-2 compliant).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5615"/>
            <a:ext cx="8229600" cy="58261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Key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83665"/>
            <a:ext cx="8229600" cy="4953000"/>
          </a:xfrm>
        </p:spPr>
        <p:txBody>
          <a:bodyPr/>
          <a:lstStyle/>
          <a:p>
            <a:r>
              <a:rPr lang="en-US" altLang="en-US" sz="2400"/>
              <a:t>Define who can use and who can administer the key.</a:t>
            </a:r>
          </a:p>
          <a:p>
            <a:endParaRPr lang="en-US" altLang="en-US" sz="2400"/>
          </a:p>
          <a:p>
            <a:r>
              <a:rPr lang="en-US" altLang="en-US" sz="2400"/>
              <a:t>Example:</a:t>
            </a:r>
          </a:p>
          <a:p>
            <a:endParaRPr lang="en-US" altLang="en-US" sz="2400"/>
          </a:p>
          <a:p>
            <a:r>
              <a:rPr lang="en-US" altLang="en-US" sz="2400"/>
              <a:t>IAM Root User → Full access.</a:t>
            </a:r>
          </a:p>
          <a:p>
            <a:endParaRPr lang="en-US" altLang="en-US" sz="2400"/>
          </a:p>
          <a:p>
            <a:r>
              <a:rPr lang="en-US" altLang="en-US" sz="2400"/>
              <a:t>IAM Users/Roles → Specific actions (Encrypt, Decrypt, GenerateDataKey, etc.).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5615"/>
            <a:ext cx="8229600" cy="58261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Key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31315"/>
            <a:ext cx="8229600" cy="4953000"/>
          </a:xfrm>
        </p:spPr>
        <p:txBody>
          <a:bodyPr/>
          <a:lstStyle/>
          <a:p>
            <a:r>
              <a:rPr lang="en-US" altLang="en-US" sz="2400"/>
              <a:t>Best practice: Rotate keys periodically.</a:t>
            </a:r>
          </a:p>
          <a:p>
            <a:endParaRPr lang="en-US" altLang="en-US" sz="2400"/>
          </a:p>
          <a:p>
            <a:r>
              <a:rPr lang="en-US" altLang="en-US" sz="2400"/>
              <a:t>Customer Managed CMKs → Auto-rotation every 1 year.</a:t>
            </a:r>
          </a:p>
          <a:p>
            <a:endParaRPr lang="en-US" altLang="en-US" sz="2400"/>
          </a:p>
          <a:p>
            <a:r>
              <a:rPr lang="en-US" altLang="en-US" sz="2400"/>
              <a:t>AWS Managed CMKs → Rotation every 3 years (fixed).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313</Words>
  <Application>Microsoft Office PowerPoint</Application>
  <PresentationFormat>On-screen Show (4:3)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AWS Key Management Service (KMS)</vt:lpstr>
      <vt:lpstr>Why Encryption?</vt:lpstr>
      <vt:lpstr>Encryption Types</vt:lpstr>
      <vt:lpstr>AWS KMS Basics</vt:lpstr>
      <vt:lpstr>CMKs vs Data Keys</vt:lpstr>
      <vt:lpstr>Envelope Encryption </vt:lpstr>
      <vt:lpstr>Key Policies</vt:lpstr>
      <vt:lpstr>Key Rotation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Amaan Ahmed</dc:creator>
  <dc:description>generated using python-pptx</dc:description>
  <cp:lastModifiedBy>Mohammed Amaan Ahmed</cp:lastModifiedBy>
  <cp:revision>4</cp:revision>
  <dcterms:created xsi:type="dcterms:W3CDTF">2013-01-27T09:14:00Z</dcterms:created>
  <dcterms:modified xsi:type="dcterms:W3CDTF">2025-10-07T20:10:10Z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337E793F05544F978DD1FC7991510842_13</vt:lpwstr>
  </property>
  <property fmtid="{D5CDD505-2E9C-101B-9397-08002B2CF9AE}" pid="3" name="KSOProductBuildVer">
    <vt:lpwstr>1033-12.2.0.21931</vt:lpwstr>
  </property>
</Properties>
</file>